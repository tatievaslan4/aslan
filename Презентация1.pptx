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4" r:id="rId1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DEBE8-3BF1-44C3-ACFA-C55EB372B65C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7576-73F5-4037-8E9E-7F05E5D4F9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03439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DEBE8-3BF1-44C3-ACFA-C55EB372B65C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7576-73F5-4037-8E9E-7F05E5D4F9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1292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DEBE8-3BF1-44C3-ACFA-C55EB372B65C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7576-73F5-4037-8E9E-7F05E5D4F9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70615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DEBE8-3BF1-44C3-ACFA-C55EB372B65C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7576-73F5-4037-8E9E-7F05E5D4F9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7707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DEBE8-3BF1-44C3-ACFA-C55EB372B65C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7576-73F5-4037-8E9E-7F05E5D4F9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43291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DEBE8-3BF1-44C3-ACFA-C55EB372B65C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7576-73F5-4037-8E9E-7F05E5D4F9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57334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DEBE8-3BF1-44C3-ACFA-C55EB372B65C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7576-73F5-4037-8E9E-7F05E5D4F9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68142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DEBE8-3BF1-44C3-ACFA-C55EB372B65C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7576-73F5-4037-8E9E-7F05E5D4F9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3011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DEBE8-3BF1-44C3-ACFA-C55EB372B65C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7576-73F5-4037-8E9E-7F05E5D4F9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8990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DEBE8-3BF1-44C3-ACFA-C55EB372B65C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7576-73F5-4037-8E9E-7F05E5D4F9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3972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DEBE8-3BF1-44C3-ACFA-C55EB372B65C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7576-73F5-4037-8E9E-7F05E5D4F9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0178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8DEBE8-3BF1-44C3-ACFA-C55EB372B65C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BB7576-73F5-4037-8E9E-7F05E5D4F9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6157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06352" y="3096306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ru-RU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4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ДИПЛОМНЫЙ </a:t>
            </a:r>
            <a:r>
              <a:rPr lang="ru-RU" sz="4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</a:t>
            </a:r>
            <a:r>
              <a:rPr lang="ru-RU" sz="31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31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автоматизированной информационной системы по учету и распределению офисной техники на предприятии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8229598" y="4520066"/>
            <a:ext cx="4354287" cy="2911248"/>
          </a:xfrm>
        </p:spPr>
        <p:txBody>
          <a:bodyPr>
            <a:norm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Татиев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Аслан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Тлеккавьяевич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Группа: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ИСП-223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Волгоград 2026г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b="1" dirty="0"/>
          </a:p>
        </p:txBody>
      </p:sp>
      <p:sp>
        <p:nvSpPr>
          <p:cNvPr id="49" name="Прямоугольник 48"/>
          <p:cNvSpPr/>
          <p:nvPr/>
        </p:nvSpPr>
        <p:spPr>
          <a:xfrm>
            <a:off x="4898638" y="6176220"/>
            <a:ext cx="235942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Волгоград 2026г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988508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 исследования</a:t>
            </a:r>
            <a:r>
              <a:rPr lang="ru-RU" b="1" dirty="0"/>
              <a:t/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6029" y="1811110"/>
            <a:ext cx="5577114" cy="5046889"/>
          </a:xfrm>
        </p:spPr>
        <p:txBody>
          <a:bodyPr>
            <a:norm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предприятиях отсутствует централизованный учет офисной техники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Потеря информации о местонахождении оборудования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Сложность отслеживания выдачи и возврата техники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Отсутствие контроля за состоянием оборудования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6066971" y="1811110"/>
            <a:ext cx="6125029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Актуальность:</a:t>
            </a:r>
            <a:endParaRPr lang="ru-RU" sz="2800" b="0" i="0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28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Автоматизация учета позволяет: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8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Сократить время на поиск информации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8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Исключить потерю данных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8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Повысить эффективность использования техники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8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Обеспечить контроль за движением оборудования</a:t>
            </a:r>
            <a:endParaRPr lang="ru-RU" sz="28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7044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и задачи проекта</a:t>
            </a:r>
            <a:b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" y="1288596"/>
            <a:ext cx="6313713" cy="556940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работы: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автоматизированную информационную систему для учета и распределения офисной техники на предприятии.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анализ предметной области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Выявить требования к системе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структуру базы данных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Создать клиентское приложение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6473372" y="1288596"/>
            <a:ext cx="5718628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Реализовать функции: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Авторизация пользователей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Учет техники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Распределение техники сотрудникам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Поиск и фильтрация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тестирование системы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402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Обзор существующих решений</a:t>
            </a:r>
            <a:b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222869"/>
              </p:ext>
            </p:extLst>
          </p:nvPr>
        </p:nvGraphicFramePr>
        <p:xfrm>
          <a:off x="934357" y="1726747"/>
          <a:ext cx="10323286" cy="4763758"/>
        </p:xfrm>
        <a:graphic>
          <a:graphicData uri="http://schemas.openxmlformats.org/drawingml/2006/table">
            <a:tbl>
              <a:tblPr/>
              <a:tblGrid>
                <a:gridCol w="3421213">
                  <a:extLst>
                    <a:ext uri="{9D8B030D-6E8A-4147-A177-3AD203B41FA5}">
                      <a16:colId xmlns:a16="http://schemas.microsoft.com/office/drawing/2014/main" val="1538181278"/>
                    </a:ext>
                  </a:extLst>
                </a:gridCol>
                <a:gridCol w="3460978">
                  <a:extLst>
                    <a:ext uri="{9D8B030D-6E8A-4147-A177-3AD203B41FA5}">
                      <a16:colId xmlns:a16="http://schemas.microsoft.com/office/drawing/2014/main" val="1756331112"/>
                    </a:ext>
                  </a:extLst>
                </a:gridCol>
                <a:gridCol w="3441095">
                  <a:extLst>
                    <a:ext uri="{9D8B030D-6E8A-4147-A177-3AD203B41FA5}">
                      <a16:colId xmlns:a16="http://schemas.microsoft.com/office/drawing/2014/main" val="3678675239"/>
                    </a:ext>
                  </a:extLst>
                </a:gridCol>
              </a:tblGrid>
              <a:tr h="690306">
                <a:tc>
                  <a:txBody>
                    <a:bodyPr/>
                    <a:lstStyle/>
                    <a:p>
                      <a:pPr algn="l"/>
                      <a:r>
                        <a:rPr lang="ru-RU" sz="2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Система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Преимущества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Недостатки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2196915"/>
                  </a:ext>
                </a:extLst>
              </a:tr>
              <a:tr h="1097699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Excel</a:t>
                      </a:r>
                      <a:endParaRPr lang="en-US" sz="2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Простота, доступность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 автоматизации, легко ошибиться</a:t>
                      </a: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4539149"/>
                  </a:ext>
                </a:extLst>
              </a:tr>
              <a:tr h="1097699"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1С:Управление предприятием</a:t>
                      </a:r>
                      <a:endParaRPr lang="ru-RU" sz="2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Мощный функционал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Высокая стоимость, сложность настройки</a:t>
                      </a: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016417"/>
                  </a:ext>
                </a:extLst>
              </a:tr>
              <a:tr h="1505093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SAP</a:t>
                      </a:r>
                      <a:endParaRPr lang="en-US" sz="2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Масштабируемость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Очень дорого, избыточно для малого бизнеса</a:t>
                      </a: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63949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1521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Требования к системе</a:t>
            </a:r>
            <a:b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2489" y="1690688"/>
            <a:ext cx="6259284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Функциональные требования: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Авторизация пользователей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Просмотр каталога техники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Добавление/редактирование/удаление техники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Поиск и фильтрация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Выдача техники сотрудникам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Возврат техники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История выдач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Разграничение прав доступа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6371773" y="1690688"/>
            <a:ext cx="5562597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Нефункциональные требования:</a:t>
            </a:r>
            <a:endParaRPr lang="ru-RU" sz="2800" b="0" i="0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28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Интуитивно понятный интерфейс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8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Быстродействие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8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Надежность хранения данных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8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Простота установки</a:t>
            </a:r>
            <a:endParaRPr lang="ru-RU" sz="28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9615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 системы</a:t>
            </a:r>
            <a:b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Объект 7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23734" y="1690688"/>
            <a:ext cx="3086328" cy="2444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Рисунок 8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45" r="21751" b="-321"/>
          <a:stretch/>
        </p:blipFill>
        <p:spPr>
          <a:xfrm>
            <a:off x="4773867" y="1690688"/>
            <a:ext cx="2644265" cy="2484109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10" r="27687"/>
          <a:stretch/>
        </p:blipFill>
        <p:spPr>
          <a:xfrm>
            <a:off x="8581937" y="1690688"/>
            <a:ext cx="2382473" cy="2484109"/>
          </a:xfrm>
          <a:prstGeom prst="rect">
            <a:avLst/>
          </a:prstGeom>
        </p:spPr>
      </p:pic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8657437" y="4250298"/>
            <a:ext cx="2786771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WPF Приложение на C#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3867" y="4250298"/>
            <a:ext cx="2840251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alt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Entity</a:t>
            </a:r>
            <a:r>
              <a:rPr lang="ru-RU" alt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Framework</a:t>
            </a:r>
            <a:r>
              <a:rPr lang="ru-RU" alt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6.2.0 </a:t>
            </a:r>
          </a:p>
          <a:p>
            <a:endParaRPr lang="ru-RU" dirty="0"/>
          </a:p>
        </p:txBody>
      </p:sp>
      <p:sp>
        <p:nvSpPr>
          <p:cNvPr id="19" name="TextBox 18"/>
          <p:cNvSpPr txBox="1"/>
          <p:nvPr/>
        </p:nvSpPr>
        <p:spPr>
          <a:xfrm>
            <a:off x="539936" y="4250298"/>
            <a:ext cx="319061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SQL Server (MS SQL Express)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4397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Структура базы данных</a:t>
            </a:r>
            <a:b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9211" y="1559729"/>
            <a:ext cx="4238361" cy="4961183"/>
          </a:xfrm>
        </p:spPr>
      </p:pic>
    </p:spTree>
    <p:extLst>
      <p:ext uri="{BB962C8B-B14F-4D97-AF65-F5344CB8AC3E}">
        <p14:creationId xmlns:p14="http://schemas.microsoft.com/office/powerpoint/2010/main" val="4171219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Схема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разграничения прав доступа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0554" y="2096949"/>
            <a:ext cx="6581775" cy="4010025"/>
          </a:xfrm>
        </p:spPr>
      </p:pic>
    </p:spTree>
    <p:extLst>
      <p:ext uri="{BB962C8B-B14F-4D97-AF65-F5344CB8AC3E}">
        <p14:creationId xmlns:p14="http://schemas.microsoft.com/office/powerpoint/2010/main" val="2098434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247679"/>
            <a:ext cx="10515600" cy="1325563"/>
          </a:xfrm>
        </p:spPr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Функциональная 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структура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2237" y="2215356"/>
            <a:ext cx="6867525" cy="3571875"/>
          </a:xfrm>
        </p:spPr>
      </p:pic>
    </p:spTree>
    <p:extLst>
      <p:ext uri="{BB962C8B-B14F-4D97-AF65-F5344CB8AC3E}">
        <p14:creationId xmlns:p14="http://schemas.microsoft.com/office/powerpoint/2010/main" val="3584369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 - Страница 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авторизации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877" y="1964770"/>
            <a:ext cx="5966066" cy="4351338"/>
          </a:xfrm>
        </p:spPr>
      </p:pic>
      <p:sp>
        <p:nvSpPr>
          <p:cNvPr id="5" name="Прямоугольник 4"/>
          <p:cNvSpPr/>
          <p:nvPr/>
        </p:nvSpPr>
        <p:spPr>
          <a:xfrm>
            <a:off x="6251943" y="1964770"/>
            <a:ext cx="5853371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Особенности: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Два режима входа: администратор / гость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Разграничение прав 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доступа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2090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 - Главная 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страница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3424" y="1875959"/>
            <a:ext cx="8345151" cy="4351338"/>
          </a:xfrm>
        </p:spPr>
      </p:pic>
    </p:spTree>
    <p:extLst>
      <p:ext uri="{BB962C8B-B14F-4D97-AF65-F5344CB8AC3E}">
        <p14:creationId xmlns:p14="http://schemas.microsoft.com/office/powerpoint/2010/main" val="1811369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 - Добавление/редактирование 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техники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0295" y="1825625"/>
            <a:ext cx="8411409" cy="4351338"/>
          </a:xfrm>
        </p:spPr>
      </p:pic>
    </p:spTree>
    <p:extLst>
      <p:ext uri="{BB962C8B-B14F-4D97-AF65-F5344CB8AC3E}">
        <p14:creationId xmlns:p14="http://schemas.microsoft.com/office/powerpoint/2010/main" val="4026046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 - Распределение техники</a:t>
            </a: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420" y="1825625"/>
            <a:ext cx="8795159" cy="4351338"/>
          </a:xfrm>
        </p:spPr>
      </p:pic>
    </p:spTree>
    <p:extLst>
      <p:ext uri="{BB962C8B-B14F-4D97-AF65-F5344CB8AC3E}">
        <p14:creationId xmlns:p14="http://schemas.microsoft.com/office/powerpoint/2010/main" val="3072687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Разграничение прав 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доступа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5581995"/>
              </p:ext>
            </p:extLst>
          </p:nvPr>
        </p:nvGraphicFramePr>
        <p:xfrm>
          <a:off x="2983171" y="1793162"/>
          <a:ext cx="6225657" cy="4416264"/>
        </p:xfrm>
        <a:graphic>
          <a:graphicData uri="http://schemas.openxmlformats.org/drawingml/2006/table">
            <a:tbl>
              <a:tblPr/>
              <a:tblGrid>
                <a:gridCol w="2075219">
                  <a:extLst>
                    <a:ext uri="{9D8B030D-6E8A-4147-A177-3AD203B41FA5}">
                      <a16:colId xmlns:a16="http://schemas.microsoft.com/office/drawing/2014/main" val="786628241"/>
                    </a:ext>
                  </a:extLst>
                </a:gridCol>
                <a:gridCol w="2075219">
                  <a:extLst>
                    <a:ext uri="{9D8B030D-6E8A-4147-A177-3AD203B41FA5}">
                      <a16:colId xmlns:a16="http://schemas.microsoft.com/office/drawing/2014/main" val="4075124199"/>
                    </a:ext>
                  </a:extLst>
                </a:gridCol>
                <a:gridCol w="2075219">
                  <a:extLst>
                    <a:ext uri="{9D8B030D-6E8A-4147-A177-3AD203B41FA5}">
                      <a16:colId xmlns:a16="http://schemas.microsoft.com/office/drawing/2014/main" val="381075570"/>
                    </a:ext>
                  </a:extLst>
                </a:gridCol>
              </a:tblGrid>
              <a:tr h="404005">
                <a:tc>
                  <a:txBody>
                    <a:bodyPr/>
                    <a:lstStyle/>
                    <a:p>
                      <a:pPr algn="l"/>
                      <a:r>
                        <a:rPr lang="ru-RU" sz="1600" b="0" dirty="0">
                          <a:effectLst/>
                          <a:latin typeface="quote-cjk-patch"/>
                        </a:rPr>
                        <a:t>Функция</a:t>
                      </a:r>
                    </a:p>
                  </a:txBody>
                  <a:tcPr marL="79476" marR="132461" marT="82788" marB="827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0" dirty="0">
                          <a:effectLst/>
                          <a:latin typeface="quote-cjk-patch"/>
                        </a:rPr>
                        <a:t>Администратор</a:t>
                      </a:r>
                    </a:p>
                  </a:txBody>
                  <a:tcPr marL="132461" marR="132461" marT="82788" marB="827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0" dirty="0">
                          <a:effectLst/>
                          <a:latin typeface="quote-cjk-patch"/>
                        </a:rPr>
                        <a:t>Гость</a:t>
                      </a:r>
                    </a:p>
                  </a:txBody>
                  <a:tcPr marL="132461" marR="132461" marT="82788" marB="827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4199673"/>
                  </a:ext>
                </a:extLst>
              </a:tr>
              <a:tr h="404005">
                <a:tc>
                  <a:txBody>
                    <a:bodyPr/>
                    <a:lstStyle/>
                    <a:p>
                      <a:r>
                        <a:rPr lang="ru-RU" sz="1600" b="0" dirty="0">
                          <a:effectLst/>
                          <a:latin typeface="quote-cjk-patch"/>
                        </a:rPr>
                        <a:t>Просмотр техники</a:t>
                      </a:r>
                    </a:p>
                  </a:txBody>
                  <a:tcPr marL="79476" marR="132461" marT="82788" marB="827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effectLst/>
                          <a:latin typeface="quote-cjk-patch"/>
                        </a:rPr>
                        <a:t>✓</a:t>
                      </a:r>
                    </a:p>
                  </a:txBody>
                  <a:tcPr marL="132461" marR="132461" marT="82788" marB="827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effectLst/>
                          <a:latin typeface="quote-cjk-patch"/>
                        </a:rPr>
                        <a:t>✓</a:t>
                      </a:r>
                    </a:p>
                  </a:txBody>
                  <a:tcPr marL="132461" marR="79476" marT="82788" marB="827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1463222"/>
                  </a:ext>
                </a:extLst>
              </a:tr>
              <a:tr h="642435">
                <a:tc>
                  <a:txBody>
                    <a:bodyPr/>
                    <a:lstStyle/>
                    <a:p>
                      <a:r>
                        <a:rPr lang="ru-RU" sz="1600" b="0" dirty="0">
                          <a:effectLst/>
                          <a:latin typeface="quote-cjk-patch"/>
                        </a:rPr>
                        <a:t>Поиск и фильтрация</a:t>
                      </a:r>
                    </a:p>
                  </a:txBody>
                  <a:tcPr marL="79476" marR="132461" marT="82788" marB="827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effectLst/>
                          <a:latin typeface="quote-cjk-patch"/>
                        </a:rPr>
                        <a:t>✓</a:t>
                      </a:r>
                    </a:p>
                  </a:txBody>
                  <a:tcPr marL="132461" marR="132461" marT="82788" marB="827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effectLst/>
                          <a:latin typeface="quote-cjk-patch"/>
                        </a:rPr>
                        <a:t>✓</a:t>
                      </a:r>
                    </a:p>
                  </a:txBody>
                  <a:tcPr marL="132461" marR="79476" marT="82788" marB="827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4061272"/>
                  </a:ext>
                </a:extLst>
              </a:tr>
              <a:tr h="642435">
                <a:tc>
                  <a:txBody>
                    <a:bodyPr/>
                    <a:lstStyle/>
                    <a:p>
                      <a:r>
                        <a:rPr lang="ru-RU" sz="1600" b="0" dirty="0">
                          <a:effectLst/>
                          <a:latin typeface="quote-cjk-patch"/>
                        </a:rPr>
                        <a:t>Добавление техники</a:t>
                      </a:r>
                    </a:p>
                  </a:txBody>
                  <a:tcPr marL="79476" marR="132461" marT="82788" marB="827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effectLst/>
                          <a:latin typeface="quote-cjk-patch"/>
                        </a:rPr>
                        <a:t>✓</a:t>
                      </a:r>
                    </a:p>
                  </a:txBody>
                  <a:tcPr marL="132461" marR="132461" marT="82788" marB="827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effectLst/>
                          <a:latin typeface="quote-cjk-patch"/>
                        </a:rPr>
                        <a:t>✗</a:t>
                      </a:r>
                    </a:p>
                  </a:txBody>
                  <a:tcPr marL="132461" marR="79476" marT="82788" marB="827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0398612"/>
                  </a:ext>
                </a:extLst>
              </a:tr>
              <a:tr h="642435">
                <a:tc>
                  <a:txBody>
                    <a:bodyPr/>
                    <a:lstStyle/>
                    <a:p>
                      <a:r>
                        <a:rPr lang="ru-RU" sz="1600" b="0" dirty="0">
                          <a:effectLst/>
                          <a:latin typeface="quote-cjk-patch"/>
                        </a:rPr>
                        <a:t>Редактирование техники</a:t>
                      </a:r>
                    </a:p>
                  </a:txBody>
                  <a:tcPr marL="79476" marR="132461" marT="82788" marB="827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effectLst/>
                          <a:latin typeface="quote-cjk-patch"/>
                        </a:rPr>
                        <a:t>✓</a:t>
                      </a:r>
                    </a:p>
                  </a:txBody>
                  <a:tcPr marL="132461" marR="132461" marT="82788" marB="827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effectLst/>
                          <a:latin typeface="quote-cjk-patch"/>
                        </a:rPr>
                        <a:t>✗</a:t>
                      </a:r>
                    </a:p>
                  </a:txBody>
                  <a:tcPr marL="132461" marR="79476" marT="82788" marB="827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185212"/>
                  </a:ext>
                </a:extLst>
              </a:tr>
              <a:tr h="404005">
                <a:tc>
                  <a:txBody>
                    <a:bodyPr/>
                    <a:lstStyle/>
                    <a:p>
                      <a:r>
                        <a:rPr lang="ru-RU" sz="1600" b="0" dirty="0">
                          <a:effectLst/>
                          <a:latin typeface="quote-cjk-patch"/>
                        </a:rPr>
                        <a:t>Удаление техники</a:t>
                      </a:r>
                    </a:p>
                  </a:txBody>
                  <a:tcPr marL="79476" marR="132461" marT="82788" marB="827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effectLst/>
                          <a:latin typeface="quote-cjk-patch"/>
                        </a:rPr>
                        <a:t>✓</a:t>
                      </a:r>
                    </a:p>
                  </a:txBody>
                  <a:tcPr marL="132461" marR="132461" marT="82788" marB="827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effectLst/>
                          <a:latin typeface="quote-cjk-patch"/>
                        </a:rPr>
                        <a:t>✗</a:t>
                      </a:r>
                    </a:p>
                  </a:txBody>
                  <a:tcPr marL="132461" marR="79476" marT="82788" marB="827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2125004"/>
                  </a:ext>
                </a:extLst>
              </a:tr>
              <a:tr h="404005">
                <a:tc>
                  <a:txBody>
                    <a:bodyPr/>
                    <a:lstStyle/>
                    <a:p>
                      <a:r>
                        <a:rPr lang="ru-RU" sz="1600" b="0" dirty="0">
                          <a:effectLst/>
                          <a:latin typeface="quote-cjk-patch"/>
                        </a:rPr>
                        <a:t>Выдача техники</a:t>
                      </a:r>
                    </a:p>
                  </a:txBody>
                  <a:tcPr marL="79476" marR="132461" marT="82788" marB="827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effectLst/>
                          <a:latin typeface="quote-cjk-patch"/>
                        </a:rPr>
                        <a:t>✓</a:t>
                      </a:r>
                    </a:p>
                  </a:txBody>
                  <a:tcPr marL="132461" marR="132461" marT="82788" marB="827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effectLst/>
                          <a:latin typeface="quote-cjk-patch"/>
                        </a:rPr>
                        <a:t>✗</a:t>
                      </a:r>
                    </a:p>
                  </a:txBody>
                  <a:tcPr marL="132461" marR="79476" marT="82788" marB="827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577811"/>
                  </a:ext>
                </a:extLst>
              </a:tr>
              <a:tr h="404005">
                <a:tc>
                  <a:txBody>
                    <a:bodyPr/>
                    <a:lstStyle/>
                    <a:p>
                      <a:r>
                        <a:rPr lang="ru-RU" sz="1600" b="0" dirty="0">
                          <a:effectLst/>
                          <a:latin typeface="quote-cjk-patch"/>
                        </a:rPr>
                        <a:t>Возврат техники</a:t>
                      </a:r>
                    </a:p>
                  </a:txBody>
                  <a:tcPr marL="79476" marR="132461" marT="82788" marB="827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effectLst/>
                          <a:latin typeface="quote-cjk-patch"/>
                        </a:rPr>
                        <a:t>✓</a:t>
                      </a:r>
                    </a:p>
                  </a:txBody>
                  <a:tcPr marL="132461" marR="132461" marT="82788" marB="827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effectLst/>
                          <a:latin typeface="quote-cjk-patch"/>
                        </a:rPr>
                        <a:t>✗</a:t>
                      </a:r>
                    </a:p>
                  </a:txBody>
                  <a:tcPr marL="132461" marR="79476" marT="82788" marB="827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918665"/>
                  </a:ext>
                </a:extLst>
              </a:tr>
              <a:tr h="404005">
                <a:tc>
                  <a:txBody>
                    <a:bodyPr/>
                    <a:lstStyle/>
                    <a:p>
                      <a:r>
                        <a:rPr lang="ru-RU" sz="1600" b="0" dirty="0">
                          <a:effectLst/>
                          <a:latin typeface="quote-cjk-patch"/>
                        </a:rPr>
                        <a:t>Распределение</a:t>
                      </a:r>
                    </a:p>
                  </a:txBody>
                  <a:tcPr marL="79476" marR="132461" marT="82788" marB="827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effectLst/>
                          <a:latin typeface="quote-cjk-patch"/>
                        </a:rPr>
                        <a:t>✓</a:t>
                      </a:r>
                    </a:p>
                  </a:txBody>
                  <a:tcPr marL="132461" marR="132461" marT="82788" marB="827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effectLst/>
                          <a:latin typeface="quote-cjk-patch"/>
                        </a:rPr>
                        <a:t>✗</a:t>
                      </a:r>
                    </a:p>
                  </a:txBody>
                  <a:tcPr marL="132461" marR="79476" marT="82788" marB="827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51249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0204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222512"/>
            <a:ext cx="10515600" cy="1325563"/>
          </a:xfrm>
        </p:spPr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тестирования</a:t>
            </a: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88334512"/>
              </p:ext>
            </p:extLst>
          </p:nvPr>
        </p:nvGraphicFramePr>
        <p:xfrm>
          <a:off x="2488734" y="1702962"/>
          <a:ext cx="7214532" cy="458038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69124">
                  <a:extLst>
                    <a:ext uri="{9D8B030D-6E8A-4147-A177-3AD203B41FA5}">
                      <a16:colId xmlns:a16="http://schemas.microsoft.com/office/drawing/2014/main" val="305542686"/>
                    </a:ext>
                  </a:extLst>
                </a:gridCol>
                <a:gridCol w="1478157">
                  <a:extLst>
                    <a:ext uri="{9D8B030D-6E8A-4147-A177-3AD203B41FA5}">
                      <a16:colId xmlns:a16="http://schemas.microsoft.com/office/drawing/2014/main" val="897635321"/>
                    </a:ext>
                  </a:extLst>
                </a:gridCol>
                <a:gridCol w="2099064">
                  <a:extLst>
                    <a:ext uri="{9D8B030D-6E8A-4147-A177-3AD203B41FA5}">
                      <a16:colId xmlns:a16="http://schemas.microsoft.com/office/drawing/2014/main" val="2335106161"/>
                    </a:ext>
                  </a:extLst>
                </a:gridCol>
                <a:gridCol w="2868187">
                  <a:extLst>
                    <a:ext uri="{9D8B030D-6E8A-4147-A177-3AD203B41FA5}">
                      <a16:colId xmlns:a16="http://schemas.microsoft.com/office/drawing/2014/main" val="1257873597"/>
                    </a:ext>
                  </a:extLst>
                </a:gridCol>
              </a:tblGrid>
              <a:tr h="549647">
                <a:tc>
                  <a:txBody>
                    <a:bodyPr/>
                    <a:lstStyle/>
                    <a:p>
                      <a:pPr algn="l" fontAlgn="ctr"/>
                      <a:r>
                        <a:rPr lang="ru-RU" sz="900" u="none" strike="noStrike" dirty="0" smtClean="0">
                          <a:effectLst/>
                        </a:rPr>
                        <a:t>№ </a:t>
                      </a:r>
                      <a:endParaRPr lang="ru-RU" sz="9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1204" marR="7912" marT="791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900" u="none" strike="noStrike">
                          <a:effectLst/>
                        </a:rPr>
                        <a:t>Сценарий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1204" marR="7912" marT="791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900" u="none" strike="noStrike">
                          <a:effectLst/>
                        </a:rPr>
                        <a:t>Результат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1204" marR="7912" marT="791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900" u="none" strike="noStrike">
                          <a:effectLst/>
                        </a:rPr>
                        <a:t>Статус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1204" marR="7912" marT="7912" marB="0" anchor="ctr"/>
                </a:tc>
                <a:extLst>
                  <a:ext uri="{0D108BD9-81ED-4DB2-BD59-A6C34878D82A}">
                    <a16:rowId xmlns:a16="http://schemas.microsoft.com/office/drawing/2014/main" val="933699308"/>
                  </a:ext>
                </a:extLst>
              </a:tr>
              <a:tr h="549647">
                <a:tc>
                  <a:txBody>
                    <a:bodyPr/>
                    <a:lstStyle/>
                    <a:p>
                      <a:pPr algn="l" fontAlgn="ctr"/>
                      <a:r>
                        <a:rPr lang="ru-RU" sz="900" u="none" strike="noStrike">
                          <a:effectLst/>
                        </a:rPr>
                        <a:t>1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1204" marR="7912" marT="791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900" u="none" strike="noStrike">
                          <a:effectLst/>
                        </a:rPr>
                        <a:t>Авторизация с корректными данными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1204" marR="7912" marT="791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900" u="none" strike="noStrike">
                          <a:effectLst/>
                        </a:rPr>
                        <a:t>Успешный вход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1204" marR="7912" marT="791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900" u="none" strike="noStrike">
                          <a:effectLst/>
                        </a:rPr>
                        <a:t>✓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1204" marR="7912" marT="7912" marB="0" anchor="ctr"/>
                </a:tc>
                <a:extLst>
                  <a:ext uri="{0D108BD9-81ED-4DB2-BD59-A6C34878D82A}">
                    <a16:rowId xmlns:a16="http://schemas.microsoft.com/office/drawing/2014/main" val="459076451"/>
                  </a:ext>
                </a:extLst>
              </a:tr>
              <a:tr h="549647">
                <a:tc>
                  <a:txBody>
                    <a:bodyPr/>
                    <a:lstStyle/>
                    <a:p>
                      <a:pPr algn="l" fontAlgn="ctr"/>
                      <a:r>
                        <a:rPr lang="ru-RU" sz="900" u="none" strike="noStrike">
                          <a:effectLst/>
                        </a:rPr>
                        <a:t>2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1204" marR="7912" marT="791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900" u="none" strike="noStrike">
                          <a:effectLst/>
                        </a:rPr>
                        <a:t>Авторизация с неверным паролем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1204" marR="7912" marT="791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900" u="none" strike="noStrike">
                          <a:effectLst/>
                        </a:rPr>
                        <a:t>Сообщение об ошибке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1204" marR="7912" marT="791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900" u="none" strike="noStrike">
                          <a:effectLst/>
                        </a:rPr>
                        <a:t>✓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1204" marR="7912" marT="7912" marB="0" anchor="ctr"/>
                </a:tc>
                <a:extLst>
                  <a:ext uri="{0D108BD9-81ED-4DB2-BD59-A6C34878D82A}">
                    <a16:rowId xmlns:a16="http://schemas.microsoft.com/office/drawing/2014/main" val="583055048"/>
                  </a:ext>
                </a:extLst>
              </a:tr>
              <a:tr h="366431">
                <a:tc>
                  <a:txBody>
                    <a:bodyPr/>
                    <a:lstStyle/>
                    <a:p>
                      <a:pPr algn="l" fontAlgn="ctr"/>
                      <a:r>
                        <a:rPr lang="ru-RU" sz="900" u="none" strike="noStrike">
                          <a:effectLst/>
                        </a:rPr>
                        <a:t>3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1204" marR="7912" marT="791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900" u="none" strike="noStrike" dirty="0">
                          <a:effectLst/>
                        </a:rPr>
                        <a:t>Вход как гость</a:t>
                      </a:r>
                      <a:endParaRPr lang="ru-RU" sz="9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1204" marR="7912" marT="791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900" u="none" strike="noStrike">
                          <a:effectLst/>
                        </a:rPr>
                        <a:t>Ограниченный доступ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1204" marR="7912" marT="791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900" u="none" strike="noStrike">
                          <a:effectLst/>
                        </a:rPr>
                        <a:t>✓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1204" marR="7912" marT="7912" marB="0" anchor="ctr"/>
                </a:tc>
                <a:extLst>
                  <a:ext uri="{0D108BD9-81ED-4DB2-BD59-A6C34878D82A}">
                    <a16:rowId xmlns:a16="http://schemas.microsoft.com/office/drawing/2014/main" val="2454992648"/>
                  </a:ext>
                </a:extLst>
              </a:tr>
              <a:tr h="366431">
                <a:tc>
                  <a:txBody>
                    <a:bodyPr/>
                    <a:lstStyle/>
                    <a:p>
                      <a:pPr algn="l" fontAlgn="ctr"/>
                      <a:r>
                        <a:rPr lang="ru-RU" sz="900" u="none" strike="noStrike">
                          <a:effectLst/>
                        </a:rPr>
                        <a:t>4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1204" marR="7912" marT="791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900" u="none" strike="noStrike">
                          <a:effectLst/>
                        </a:rPr>
                        <a:t>Добавление новой техники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1204" marR="7912" marT="791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900" u="none" strike="noStrike">
                          <a:effectLst/>
                        </a:rPr>
                        <a:t>Сохранение в БД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1204" marR="7912" marT="791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900" u="none" strike="noStrike">
                          <a:effectLst/>
                        </a:rPr>
                        <a:t>✓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1204" marR="7912" marT="7912" marB="0" anchor="ctr"/>
                </a:tc>
                <a:extLst>
                  <a:ext uri="{0D108BD9-81ED-4DB2-BD59-A6C34878D82A}">
                    <a16:rowId xmlns:a16="http://schemas.microsoft.com/office/drawing/2014/main" val="2821177433"/>
                  </a:ext>
                </a:extLst>
              </a:tr>
              <a:tr h="366431">
                <a:tc>
                  <a:txBody>
                    <a:bodyPr/>
                    <a:lstStyle/>
                    <a:p>
                      <a:pPr algn="l" fontAlgn="ctr"/>
                      <a:r>
                        <a:rPr lang="ru-RU" sz="900" u="none" strike="noStrike">
                          <a:effectLst/>
                        </a:rPr>
                        <a:t>5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1204" marR="7912" marT="791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900" u="none" strike="noStrike">
                          <a:effectLst/>
                        </a:rPr>
                        <a:t>Редактирование техники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1204" marR="7912" marT="791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900" u="none" strike="noStrike">
                          <a:effectLst/>
                        </a:rPr>
                        <a:t>Обновление данных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1204" marR="7912" marT="791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900" u="none" strike="noStrike">
                          <a:effectLst/>
                        </a:rPr>
                        <a:t>✓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1204" marR="7912" marT="7912" marB="0" anchor="ctr"/>
                </a:tc>
                <a:extLst>
                  <a:ext uri="{0D108BD9-81ED-4DB2-BD59-A6C34878D82A}">
                    <a16:rowId xmlns:a16="http://schemas.microsoft.com/office/drawing/2014/main" val="2402797666"/>
                  </a:ext>
                </a:extLst>
              </a:tr>
              <a:tr h="366431">
                <a:tc>
                  <a:txBody>
                    <a:bodyPr/>
                    <a:lstStyle/>
                    <a:p>
                      <a:pPr algn="l" fontAlgn="ctr"/>
                      <a:r>
                        <a:rPr lang="ru-RU" sz="900" u="none" strike="noStrike">
                          <a:effectLst/>
                        </a:rPr>
                        <a:t>6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1204" marR="7912" marT="791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900" u="none" strike="noStrike">
                          <a:effectLst/>
                        </a:rPr>
                        <a:t>Удаление техники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1204" marR="7912" marT="791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900" u="none" strike="noStrike">
                          <a:effectLst/>
                        </a:rPr>
                        <a:t>Удаление из БД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1204" marR="7912" marT="791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900" u="none" strike="noStrike">
                          <a:effectLst/>
                        </a:rPr>
                        <a:t>✓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1204" marR="7912" marT="7912" marB="0" anchor="ctr"/>
                </a:tc>
                <a:extLst>
                  <a:ext uri="{0D108BD9-81ED-4DB2-BD59-A6C34878D82A}">
                    <a16:rowId xmlns:a16="http://schemas.microsoft.com/office/drawing/2014/main" val="1367054487"/>
                  </a:ext>
                </a:extLst>
              </a:tr>
              <a:tr h="366431">
                <a:tc>
                  <a:txBody>
                    <a:bodyPr/>
                    <a:lstStyle/>
                    <a:p>
                      <a:pPr algn="l" fontAlgn="ctr"/>
                      <a:r>
                        <a:rPr lang="ru-RU" sz="900" u="none" strike="noStrike">
                          <a:effectLst/>
                        </a:rPr>
                        <a:t>7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1204" marR="7912" marT="791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900" u="none" strike="noStrike">
                          <a:effectLst/>
                        </a:rPr>
                        <a:t>Поиск по названию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1204" marR="7912" marT="791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900" u="none" strike="noStrike">
                          <a:effectLst/>
                        </a:rPr>
                        <a:t>Отображение результатов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1204" marR="7912" marT="791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900" u="none" strike="noStrike">
                          <a:effectLst/>
                        </a:rPr>
                        <a:t>✓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1204" marR="7912" marT="7912" marB="0" anchor="ctr"/>
                </a:tc>
                <a:extLst>
                  <a:ext uri="{0D108BD9-81ED-4DB2-BD59-A6C34878D82A}">
                    <a16:rowId xmlns:a16="http://schemas.microsoft.com/office/drawing/2014/main" val="1566733772"/>
                  </a:ext>
                </a:extLst>
              </a:tr>
              <a:tr h="366431">
                <a:tc>
                  <a:txBody>
                    <a:bodyPr/>
                    <a:lstStyle/>
                    <a:p>
                      <a:pPr algn="l" fontAlgn="ctr"/>
                      <a:r>
                        <a:rPr lang="ru-RU" sz="900" u="none" strike="noStrike">
                          <a:effectLst/>
                        </a:rPr>
                        <a:t>8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1204" marR="7912" marT="791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900" u="none" strike="noStrike">
                          <a:effectLst/>
                        </a:rPr>
                        <a:t>Фильтрация по типу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1204" marR="7912" marT="791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900" u="none" strike="noStrike">
                          <a:effectLst/>
                        </a:rPr>
                        <a:t>Отображение результатов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1204" marR="7912" marT="791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900" u="none" strike="noStrike">
                          <a:effectLst/>
                        </a:rPr>
                        <a:t>✓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1204" marR="7912" marT="7912" marB="0" anchor="ctr"/>
                </a:tc>
                <a:extLst>
                  <a:ext uri="{0D108BD9-81ED-4DB2-BD59-A6C34878D82A}">
                    <a16:rowId xmlns:a16="http://schemas.microsoft.com/office/drawing/2014/main" val="4117804744"/>
                  </a:ext>
                </a:extLst>
              </a:tr>
              <a:tr h="366431">
                <a:tc>
                  <a:txBody>
                    <a:bodyPr/>
                    <a:lstStyle/>
                    <a:p>
                      <a:pPr algn="l" fontAlgn="ctr"/>
                      <a:r>
                        <a:rPr lang="ru-RU" sz="900" u="none" strike="noStrike">
                          <a:effectLst/>
                        </a:rPr>
                        <a:t>9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1204" marR="7912" marT="791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900" u="none" strike="noStrike">
                          <a:effectLst/>
                        </a:rPr>
                        <a:t>Выдача техники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1204" marR="7912" marT="791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900" u="none" strike="noStrike">
                          <a:effectLst/>
                        </a:rPr>
                        <a:t>Изменение статуса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1204" marR="7912" marT="791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900" u="none" strike="noStrike">
                          <a:effectLst/>
                        </a:rPr>
                        <a:t>✓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1204" marR="7912" marT="7912" marB="0" anchor="ctr"/>
                </a:tc>
                <a:extLst>
                  <a:ext uri="{0D108BD9-81ED-4DB2-BD59-A6C34878D82A}">
                    <a16:rowId xmlns:a16="http://schemas.microsoft.com/office/drawing/2014/main" val="3652873064"/>
                  </a:ext>
                </a:extLst>
              </a:tr>
              <a:tr h="366431">
                <a:tc>
                  <a:txBody>
                    <a:bodyPr/>
                    <a:lstStyle/>
                    <a:p>
                      <a:pPr algn="l" fontAlgn="ctr"/>
                      <a:r>
                        <a:rPr lang="ru-RU" sz="900" u="none" strike="noStrike">
                          <a:effectLst/>
                        </a:rPr>
                        <a:t>10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1204" marR="7912" marT="791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900" u="none" strike="noStrike">
                          <a:effectLst/>
                        </a:rPr>
                        <a:t>Возврат техники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1204" marR="7912" marT="791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900" u="none" strike="noStrike">
                          <a:effectLst/>
                        </a:rPr>
                        <a:t>Обновление статуса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1204" marR="7912" marT="791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900" u="none" strike="noStrike" dirty="0">
                          <a:effectLst/>
                        </a:rPr>
                        <a:t>✓</a:t>
                      </a:r>
                      <a:endParaRPr lang="ru-RU" sz="9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1204" marR="7912" marT="7912" marB="0" anchor="ctr"/>
                </a:tc>
                <a:extLst>
                  <a:ext uri="{0D108BD9-81ED-4DB2-BD59-A6C34878D82A}">
                    <a16:rowId xmlns:a16="http://schemas.microsoft.com/office/drawing/2014/main" val="2416497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402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Преимущества разработанной 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системы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51342209"/>
              </p:ext>
            </p:extLst>
          </p:nvPr>
        </p:nvGraphicFramePr>
        <p:xfrm>
          <a:off x="3615655" y="1786853"/>
          <a:ext cx="4462943" cy="44126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16920">
                  <a:extLst>
                    <a:ext uri="{9D8B030D-6E8A-4147-A177-3AD203B41FA5}">
                      <a16:colId xmlns:a16="http://schemas.microsoft.com/office/drawing/2014/main" val="661119925"/>
                    </a:ext>
                  </a:extLst>
                </a:gridCol>
                <a:gridCol w="2346023">
                  <a:extLst>
                    <a:ext uri="{9D8B030D-6E8A-4147-A177-3AD203B41FA5}">
                      <a16:colId xmlns:a16="http://schemas.microsoft.com/office/drawing/2014/main" val="468160727"/>
                    </a:ext>
                  </a:extLst>
                </a:gridCol>
              </a:tblGrid>
              <a:tr h="471249">
                <a:tc>
                  <a:txBody>
                    <a:bodyPr/>
                    <a:lstStyle/>
                    <a:p>
                      <a:pPr algn="l" fontAlgn="ctr"/>
                      <a:r>
                        <a:rPr lang="ru-RU" sz="1200" b="1" u="none" strike="noStrike" dirty="0">
                          <a:effectLst/>
                        </a:rPr>
                        <a:t>Преимущество</a:t>
                      </a:r>
                      <a:endParaRPr lang="ru-RU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369" marR="7041" marT="704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200" b="1" u="none" strike="noStrike" dirty="0">
                          <a:effectLst/>
                        </a:rPr>
                        <a:t>Описание</a:t>
                      </a:r>
                      <a:endParaRPr lang="ru-RU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369" marR="7041" marT="7041" marB="0" anchor="ctr"/>
                </a:tc>
                <a:extLst>
                  <a:ext uri="{0D108BD9-81ED-4DB2-BD59-A6C34878D82A}">
                    <a16:rowId xmlns:a16="http://schemas.microsoft.com/office/drawing/2014/main" val="3038112544"/>
                  </a:ext>
                </a:extLst>
              </a:tr>
              <a:tr h="578352">
                <a:tc>
                  <a:txBody>
                    <a:bodyPr/>
                    <a:lstStyle/>
                    <a:p>
                      <a:pPr algn="l" fontAlgn="ctr"/>
                      <a:r>
                        <a:rPr lang="ru-RU" sz="1200" u="none" strike="noStrike">
                          <a:effectLst/>
                        </a:rPr>
                        <a:t>Простота использования</a:t>
                      </a:r>
                      <a:endParaRPr lang="ru-RU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369" marR="7041" marT="704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200" u="none" strike="noStrike" dirty="0">
                          <a:effectLst/>
                        </a:rPr>
                        <a:t>Интуитивно понятный интерфейс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369" marR="7041" marT="7041" marB="0" anchor="ctr"/>
                </a:tc>
                <a:extLst>
                  <a:ext uri="{0D108BD9-81ED-4DB2-BD59-A6C34878D82A}">
                    <a16:rowId xmlns:a16="http://schemas.microsoft.com/office/drawing/2014/main" val="416016033"/>
                  </a:ext>
                </a:extLst>
              </a:tr>
              <a:tr h="471249">
                <a:tc>
                  <a:txBody>
                    <a:bodyPr/>
                    <a:lstStyle/>
                    <a:p>
                      <a:pPr algn="l" fontAlgn="ctr"/>
                      <a:r>
                        <a:rPr lang="ru-RU" sz="1200" u="none" strike="noStrike">
                          <a:effectLst/>
                        </a:rPr>
                        <a:t>Быстрый поиск</a:t>
                      </a:r>
                      <a:endParaRPr lang="ru-RU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369" marR="7041" marT="704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200" u="none" strike="noStrike">
                          <a:effectLst/>
                        </a:rPr>
                        <a:t>Мгновенный поиск по всем полям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369" marR="7041" marT="7041" marB="0" anchor="ctr"/>
                </a:tc>
                <a:extLst>
                  <a:ext uri="{0D108BD9-81ED-4DB2-BD59-A6C34878D82A}">
                    <a16:rowId xmlns:a16="http://schemas.microsoft.com/office/drawing/2014/main" val="1046643909"/>
                  </a:ext>
                </a:extLst>
              </a:tr>
              <a:tr h="578352">
                <a:tc>
                  <a:txBody>
                    <a:bodyPr/>
                    <a:lstStyle/>
                    <a:p>
                      <a:pPr algn="l" fontAlgn="ctr"/>
                      <a:r>
                        <a:rPr lang="ru-RU" sz="1200" u="none" strike="noStrike">
                          <a:effectLst/>
                        </a:rPr>
                        <a:t>Гибкая фильтрация</a:t>
                      </a:r>
                      <a:endParaRPr lang="ru-RU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369" marR="7041" marT="704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200" u="none" strike="noStrike">
                          <a:effectLst/>
                        </a:rPr>
                        <a:t>Фильтрация по типу, производителю, поставщику, статусу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369" marR="7041" marT="7041" marB="0" anchor="ctr"/>
                </a:tc>
                <a:extLst>
                  <a:ext uri="{0D108BD9-81ED-4DB2-BD59-A6C34878D82A}">
                    <a16:rowId xmlns:a16="http://schemas.microsoft.com/office/drawing/2014/main" val="4065899923"/>
                  </a:ext>
                </a:extLst>
              </a:tr>
              <a:tr h="578352">
                <a:tc>
                  <a:txBody>
                    <a:bodyPr/>
                    <a:lstStyle/>
                    <a:p>
                      <a:pPr algn="l" fontAlgn="ctr"/>
                      <a:r>
                        <a:rPr lang="ru-RU" sz="1200" u="none" strike="noStrike">
                          <a:effectLst/>
                        </a:rPr>
                        <a:t>Разграничение доступа</a:t>
                      </a:r>
                      <a:endParaRPr lang="ru-RU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369" marR="7041" marT="704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200" u="none" strike="noStrike">
                          <a:effectLst/>
                        </a:rPr>
                        <a:t>Два уровня прав (администратор/гость)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369" marR="7041" marT="7041" marB="0" anchor="ctr"/>
                </a:tc>
                <a:extLst>
                  <a:ext uri="{0D108BD9-81ED-4DB2-BD59-A6C34878D82A}">
                    <a16:rowId xmlns:a16="http://schemas.microsoft.com/office/drawing/2014/main" val="2758679309"/>
                  </a:ext>
                </a:extLst>
              </a:tr>
              <a:tr h="385568">
                <a:tc>
                  <a:txBody>
                    <a:bodyPr/>
                    <a:lstStyle/>
                    <a:p>
                      <a:pPr algn="l" fontAlgn="ctr"/>
                      <a:r>
                        <a:rPr lang="ru-RU" sz="1200" u="none" strike="noStrike">
                          <a:effectLst/>
                        </a:rPr>
                        <a:t>Визуализация</a:t>
                      </a:r>
                      <a:endParaRPr lang="ru-RU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369" marR="7041" marT="704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200" u="none" strike="noStrike">
                          <a:effectLst/>
                        </a:rPr>
                        <a:t>Отображение изображений техники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369" marR="7041" marT="7041" marB="0" anchor="ctr"/>
                </a:tc>
                <a:extLst>
                  <a:ext uri="{0D108BD9-81ED-4DB2-BD59-A6C34878D82A}">
                    <a16:rowId xmlns:a16="http://schemas.microsoft.com/office/drawing/2014/main" val="1814736028"/>
                  </a:ext>
                </a:extLst>
              </a:tr>
              <a:tr h="385568">
                <a:tc>
                  <a:txBody>
                    <a:bodyPr/>
                    <a:lstStyle/>
                    <a:p>
                      <a:pPr algn="l" fontAlgn="ctr"/>
                      <a:r>
                        <a:rPr lang="ru-RU" sz="1200" u="none" strike="noStrike">
                          <a:effectLst/>
                        </a:rPr>
                        <a:t>История операций</a:t>
                      </a:r>
                      <a:endParaRPr lang="ru-RU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369" marR="7041" marT="704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200" u="none" strike="noStrike">
                          <a:effectLst/>
                        </a:rPr>
                        <a:t>Отслеживание выдач и возвратов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369" marR="7041" marT="7041" marB="0" anchor="ctr"/>
                </a:tc>
                <a:extLst>
                  <a:ext uri="{0D108BD9-81ED-4DB2-BD59-A6C34878D82A}">
                    <a16:rowId xmlns:a16="http://schemas.microsoft.com/office/drawing/2014/main" val="4141304143"/>
                  </a:ext>
                </a:extLst>
              </a:tr>
              <a:tr h="578352">
                <a:tc>
                  <a:txBody>
                    <a:bodyPr/>
                    <a:lstStyle/>
                    <a:p>
                      <a:pPr algn="l" fontAlgn="ctr"/>
                      <a:r>
                        <a:rPr lang="ru-RU" sz="1200" u="none" strike="noStrike">
                          <a:effectLst/>
                        </a:rPr>
                        <a:t>Масштабируемость</a:t>
                      </a:r>
                      <a:endParaRPr lang="ru-RU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369" marR="7041" marT="704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200" u="none" strike="noStrike">
                          <a:effectLst/>
                        </a:rPr>
                        <a:t>Возможность расширения функционала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369" marR="7041" marT="7041" marB="0" anchor="ctr"/>
                </a:tc>
                <a:extLst>
                  <a:ext uri="{0D108BD9-81ED-4DB2-BD59-A6C34878D82A}">
                    <a16:rowId xmlns:a16="http://schemas.microsoft.com/office/drawing/2014/main" val="1442725809"/>
                  </a:ext>
                </a:extLst>
              </a:tr>
              <a:tr h="385568">
                <a:tc>
                  <a:txBody>
                    <a:bodyPr/>
                    <a:lstStyle/>
                    <a:p>
                      <a:pPr algn="l" fontAlgn="ctr"/>
                      <a:r>
                        <a:rPr lang="ru-RU" sz="1200" u="none" strike="noStrike">
                          <a:effectLst/>
                        </a:rPr>
                        <a:t>Надежность</a:t>
                      </a:r>
                      <a:endParaRPr lang="ru-RU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369" marR="7041" marT="704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200" u="none" strike="noStrike" dirty="0">
                          <a:effectLst/>
                        </a:rPr>
                        <a:t>Централизованное хранение данных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369" marR="7041" marT="7041" marB="0" anchor="ctr"/>
                </a:tc>
                <a:extLst>
                  <a:ext uri="{0D108BD9-81ED-4DB2-BD59-A6C34878D82A}">
                    <a16:rowId xmlns:a16="http://schemas.microsoft.com/office/drawing/2014/main" val="29825396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2442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27807" y="72887"/>
            <a:ext cx="10515600" cy="1325563"/>
          </a:xfrm>
        </p:spPr>
        <p:txBody>
          <a:bodyPr/>
          <a:lstStyle/>
          <a:p>
            <a:pPr algn="ctr"/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41914" y="1514519"/>
            <a:ext cx="4270695" cy="398794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b="1" dirty="0" smtClean="0"/>
              <a:t>Результаты проекта</a:t>
            </a:r>
            <a:r>
              <a:rPr lang="ru-RU" b="1" dirty="0"/>
              <a:t>: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✓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Разработана автоматизированная информационная система учета офисной техники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 Спроектирована структура базы данных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 Реализован удобный пользовательский интерфейс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4286774" y="1514519"/>
            <a:ext cx="3380764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 Внедрены функции поиска и фильтрации</a:t>
            </a:r>
          </a:p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 Реализовано разграничение прав доступа</a:t>
            </a:r>
          </a:p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 Обеспечена возможность выдачи и возврата техники</a:t>
            </a:r>
          </a:p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 Проведено успешное тестирование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7826929" y="1514519"/>
            <a:ext cx="4770539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Перспективы развития: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Добавление отчетов в формате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Excel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Интеграция с 1С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мобильного приложения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Уведомления о необходимости ремонта</a:t>
            </a:r>
            <a:endParaRPr lang="ru-RU" sz="28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491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2495928"/>
            <a:ext cx="10515600" cy="1325563"/>
          </a:xfrm>
        </p:spPr>
        <p:txBody>
          <a:bodyPr/>
          <a:lstStyle/>
          <a:p>
            <a:pPr algn="ctr"/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6011731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56151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435</Words>
  <Application>Microsoft Office PowerPoint</Application>
  <PresentationFormat>Широкоэкранный</PresentationFormat>
  <Paragraphs>178</Paragraphs>
  <Slides>18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5" baseType="lpstr">
      <vt:lpstr>Arial</vt:lpstr>
      <vt:lpstr>Calibri</vt:lpstr>
      <vt:lpstr>Calibri Light</vt:lpstr>
      <vt:lpstr>quote-cjk-patch</vt:lpstr>
      <vt:lpstr>Segoe UI</vt:lpstr>
      <vt:lpstr>Times New Roman</vt:lpstr>
      <vt:lpstr>Тема Office</vt:lpstr>
      <vt:lpstr> ДИПЛОМНЫЙ ПРОЕКТ  Разработка автоматизированной информационной системы по учету и распределению офисной техники на предприятии  </vt:lpstr>
      <vt:lpstr>Актуальность исследования </vt:lpstr>
      <vt:lpstr>Цель и задачи проекта </vt:lpstr>
      <vt:lpstr>Обзор существующих решений </vt:lpstr>
      <vt:lpstr>Требования к системе </vt:lpstr>
      <vt:lpstr>Архитектура системы </vt:lpstr>
      <vt:lpstr>Структура базы данных </vt:lpstr>
      <vt:lpstr>Схема разграничения прав доступа </vt:lpstr>
      <vt:lpstr>Функциональная структура</vt:lpstr>
      <vt:lpstr>Интерфейс - Страница авторизации</vt:lpstr>
      <vt:lpstr>Интерфейс - Главная страница</vt:lpstr>
      <vt:lpstr>Интерфейс - Добавление/редактирование техники</vt:lpstr>
      <vt:lpstr>Интерфейс - Распределение техники</vt:lpstr>
      <vt:lpstr>Разграничение прав доступа</vt:lpstr>
      <vt:lpstr>Результаты тестирования</vt:lpstr>
      <vt:lpstr>Преимущества разработанной системы</vt:lpstr>
      <vt:lpstr>Заключение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ДИПЛОМНЫЙ ПРОЕКТ  Разработка автоматизированной информационной системы по учету и распределению офисной техники на предприятии</dc:title>
  <dc:creator>MSI Katana</dc:creator>
  <cp:lastModifiedBy>MSI Katana</cp:lastModifiedBy>
  <cp:revision>10</cp:revision>
  <dcterms:created xsi:type="dcterms:W3CDTF">2026-04-01T21:37:13Z</dcterms:created>
  <dcterms:modified xsi:type="dcterms:W3CDTF">2026-04-02T12:17:55Z</dcterms:modified>
</cp:coreProperties>
</file>